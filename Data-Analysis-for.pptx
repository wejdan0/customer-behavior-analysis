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embeddedFontLst>
    <p:embeddedFont>
      <p:font typeface="Crimson Pro Black"/>
      <p:regular r:id="rId201314"/>
    </p:embeddedFont>
    <p:embeddedFont>
      <p:font typeface="Crimson Pro"/>
      <p:regular r:id="rId201315"/>
    </p:embeddedFont>
    <p:embeddedFont>
      <p:font typeface="Crimson Pro Bold"/>
      <p:regular r:id="rId201316"/>
    </p:embeddedFont>
    <p:embeddedFont>
      <p:font typeface="Open Sans Bold"/>
      <p:regular r:id="rId201317"/>
    </p:embeddedFont>
    <p:embeddedFont>
      <p:font typeface="Open Sans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4.png"/><Relationship Id="rId7" Type="http://schemas.openxmlformats.org/officeDocument/2006/relationships/image" Target="../media/image-2-5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2.png"/><Relationship Id="rId5" Type="http://schemas.openxmlformats.org/officeDocument/2006/relationships/image" Target="../media/image-5-3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image" Target="../media/image-5-6.png"/><Relationship Id="rId9" Type="http://schemas.openxmlformats.org/officeDocument/2006/relationships/image" Target="../media/image-5-7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356346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Data Analysis for : 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022600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Customer Shopping Behavior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3896717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strategic analysis project to uncover what drives customer decisions — and how to act on it.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49176"/>
            <a:ext cx="6296860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The Business Challenge</a:t>
            </a:r>
            <a:endParaRPr lang="en-US" sz="36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1405334"/>
            <a:ext cx="6296860" cy="170924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546388" y="1616770"/>
            <a:ext cx="5772402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Shifting Patterns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5546388" y="2017316"/>
            <a:ext cx="5772402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Purchasing behavior is evolving across demographics, product categories, and sales channels — faster than intuition alone can track.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3297734"/>
            <a:ext cx="6296860" cy="141396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546388" y="3509169"/>
            <a:ext cx="5772402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Unknown Drivers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5546388" y="3909715"/>
            <a:ext cx="577240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 lack a clear picture of what motivates customer decisions and what turns a first purchase into repeat loyalty.</a:t>
            </a:r>
            <a:endParaRPr lang="en-US" sz="14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4894858"/>
            <a:ext cx="6296860" cy="141396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546388" y="5106293"/>
            <a:ext cx="5772402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Strategic Opportunity</a:t>
            </a:r>
            <a:endParaRPr lang="en-US" sz="1800" dirty="0"/>
          </a:p>
        </p:txBody>
      </p:sp>
      <p:sp>
        <p:nvSpPr>
          <p:cNvPr id="12" name="Text 6"/>
          <p:cNvSpPr/>
          <p:nvPr/>
        </p:nvSpPr>
        <p:spPr>
          <a:xfrm>
            <a:off x="5546388" y="5506839"/>
            <a:ext cx="577240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With the right data, we can improve sales performance, elevate customer satisfaction, and build long-term loyalty at scale.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5350" y="1775023"/>
            <a:ext cx="4909519" cy="3307854"/>
          </a:xfrm>
          <a:prstGeom prst="roundRect">
            <a:avLst>
              <a:gd name="adj" fmla="val 4114"/>
            </a:avLst>
          </a:prstGeom>
          <a:solidFill>
            <a:srgbClr val="835E54"/>
          </a:solidFill>
          <a:ln/>
        </p:spPr>
      </p:sp>
      <p:sp>
        <p:nvSpPr>
          <p:cNvPr id="3" name="Text 1"/>
          <p:cNvSpPr/>
          <p:nvPr/>
        </p:nvSpPr>
        <p:spPr>
          <a:xfrm>
            <a:off x="714357" y="1964035"/>
            <a:ext cx="45315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The Core Question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714357" y="2448322"/>
            <a:ext cx="4531505" cy="2445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10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What truly drives the customer?</a:t>
            </a:r>
            <a:endParaRPr lang="en-US" sz="5100" dirty="0"/>
          </a:p>
        </p:txBody>
      </p:sp>
      <p:sp>
        <p:nvSpPr>
          <p:cNvPr id="5" name="Text 3"/>
          <p:cNvSpPr/>
          <p:nvPr/>
        </p:nvSpPr>
        <p:spPr>
          <a:xfrm>
            <a:off x="5766251" y="1945084"/>
            <a:ext cx="5770220" cy="1682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How can we leverage consumer shopping data to 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identify trends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improve customer engagement, and optimize marketing and product strategies?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project transforms raw transaction data into strategic direction — giving leadership the clarity to act with confidence.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6210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What We'll Analyze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530773"/>
            <a:ext cx="3496877" cy="2765127"/>
          </a:xfrm>
          <a:prstGeom prst="roundRect">
            <a:avLst>
              <a:gd name="adj" fmla="val 2871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6832" y="2726134"/>
            <a:ext cx="567021" cy="567035"/>
          </a:xfrm>
          <a:prstGeom prst="ellipse">
            <a:avLst/>
          </a:prstGeom>
          <a:solidFill>
            <a:srgbClr val="835E5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2800" y="2882007"/>
            <a:ext cx="255085" cy="2550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6832" y="3482181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Customer Segments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6832" y="3890863"/>
            <a:ext cx="310616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Demographics, purchase frequency, and lifetime value to identify who our most valuable customers are.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347359" y="2530773"/>
            <a:ext cx="3496877" cy="2765127"/>
          </a:xfrm>
          <a:prstGeom prst="roundRect">
            <a:avLst>
              <a:gd name="adj" fmla="val 2871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42716" y="2726134"/>
            <a:ext cx="567021" cy="567035"/>
          </a:xfrm>
          <a:prstGeom prst="ellipse">
            <a:avLst/>
          </a:prstGeom>
          <a:solidFill>
            <a:srgbClr val="835E54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8684" y="2882007"/>
            <a:ext cx="255085" cy="2550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42716" y="3482181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Purchase Drivers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4542716" y="3890863"/>
            <a:ext cx="310616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Discounts, reviews, seasonality, and payment preferences — the factors that convert browsers into buyers.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8033244" y="2530773"/>
            <a:ext cx="3496877" cy="2765127"/>
          </a:xfrm>
          <a:prstGeom prst="roundRect">
            <a:avLst>
              <a:gd name="adj" fmla="val 2871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228600" y="2726134"/>
            <a:ext cx="567021" cy="567035"/>
          </a:xfrm>
          <a:prstGeom prst="ellipse">
            <a:avLst/>
          </a:prstGeom>
          <a:solidFill>
            <a:srgbClr val="835E54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4568" y="2882007"/>
            <a:ext cx="255085" cy="25509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28600" y="3482181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Channel Performance</a:t>
            </a:r>
            <a:endParaRPr lang="en-US" sz="1850" dirty="0"/>
          </a:p>
        </p:txBody>
      </p:sp>
      <p:sp>
        <p:nvSpPr>
          <p:cNvPr id="17" name="Text 12"/>
          <p:cNvSpPr/>
          <p:nvPr/>
        </p:nvSpPr>
        <p:spPr>
          <a:xfrm>
            <a:off x="8228600" y="3890863"/>
            <a:ext cx="310616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Online vs. offline behavior, conversion rates, and where customers are most likely to engage and transact.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7255"/>
            <a:ext cx="10868745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Project Deliverables</a:t>
            </a:r>
            <a:endParaRPr lang="en-US" sz="3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332434"/>
            <a:ext cx="5225423" cy="2961084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11147" y="1519932"/>
            <a:ext cx="2535075" cy="20848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450249" y="1632148"/>
            <a:ext cx="256871" cy="3211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6501444" y="2208014"/>
            <a:ext cx="2154481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Clean Dataset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6501444" y="2630785"/>
            <a:ext cx="2154481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Transformed and validated data prepared in Python, ready for analysis.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01396" y="1519932"/>
            <a:ext cx="2535174" cy="208488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140498" y="1632148"/>
            <a:ext cx="256871" cy="3211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5"/>
          <p:cNvSpPr/>
          <p:nvPr/>
        </p:nvSpPr>
        <p:spPr>
          <a:xfrm>
            <a:off x="9191693" y="2208014"/>
            <a:ext cx="2154580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SQL Insights</a:t>
            </a:r>
            <a:endParaRPr lang="en-US" sz="1650" dirty="0"/>
          </a:p>
        </p:txBody>
      </p:sp>
      <p:sp>
        <p:nvSpPr>
          <p:cNvPr id="11" name="Text 6"/>
          <p:cNvSpPr/>
          <p:nvPr/>
        </p:nvSpPr>
        <p:spPr>
          <a:xfrm>
            <a:off x="9191693" y="2630785"/>
            <a:ext cx="2154580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Structured queries surfacing key patterns and business-relevant findings.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11147" y="3759994"/>
            <a:ext cx="2535075" cy="234612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50249" y="3872210"/>
            <a:ext cx="256871" cy="3211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8"/>
          <p:cNvSpPr/>
          <p:nvPr/>
        </p:nvSpPr>
        <p:spPr>
          <a:xfrm>
            <a:off x="6501444" y="4448076"/>
            <a:ext cx="2154481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Power BI Dashboard</a:t>
            </a:r>
            <a:endParaRPr lang="en-US" sz="1650" dirty="0"/>
          </a:p>
        </p:txBody>
      </p:sp>
      <p:sp>
        <p:nvSpPr>
          <p:cNvPr id="15" name="Text 9"/>
          <p:cNvSpPr/>
          <p:nvPr/>
        </p:nvSpPr>
        <p:spPr>
          <a:xfrm>
            <a:off x="6501444" y="4870847"/>
            <a:ext cx="2154481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Interactive, executive-ready visualization of all core metrics.</a:t>
            </a:r>
            <a:endParaRPr lang="en-US" sz="13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001396" y="3759994"/>
            <a:ext cx="2535174" cy="2346127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140498" y="3872210"/>
            <a:ext cx="256871" cy="3211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1"/>
          <p:cNvSpPr/>
          <p:nvPr/>
        </p:nvSpPr>
        <p:spPr>
          <a:xfrm>
            <a:off x="9191693" y="4448076"/>
            <a:ext cx="2154580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Findings Report</a:t>
            </a:r>
            <a:endParaRPr lang="en-US" sz="1650" dirty="0"/>
          </a:p>
        </p:txBody>
      </p:sp>
      <p:sp>
        <p:nvSpPr>
          <p:cNvPr id="19" name="Text 12"/>
          <p:cNvSpPr/>
          <p:nvPr/>
        </p:nvSpPr>
        <p:spPr>
          <a:xfrm>
            <a:off x="9191693" y="4870847"/>
            <a:ext cx="2154580" cy="1044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full stakeholder presentation with actionable recommendations.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3202"/>
            <a:ext cx="10868745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Our Approach: Three Phases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359098"/>
            <a:ext cx="10868745" cy="42878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52247" y="2844100"/>
            <a:ext cx="2162133" cy="294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Data Preparation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2352247" y="3221952"/>
            <a:ext cx="2162133" cy="444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Clean and model raw data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040286" y="3116539"/>
            <a:ext cx="2162133" cy="294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Analysis &amp; Insights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040286" y="3494391"/>
            <a:ext cx="2162133" cy="667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Extract patterns on segments, loyalty, drivers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759704" y="2844100"/>
            <a:ext cx="2162133" cy="58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Visualization &amp; Recommendations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7759704" y="3516126"/>
            <a:ext cx="2162133" cy="444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 dashboards and deliver strategies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61475" y="5815608"/>
            <a:ext cx="10868745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Each phase builds on the last — ensuring that every recommendation delivered to leadership is grounded in clean data and rigorous analysis.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036737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Expected Business Impact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5233360" y="1910854"/>
            <a:ext cx="3053877" cy="2310705"/>
          </a:xfrm>
          <a:prstGeom prst="roundRect">
            <a:avLst>
              <a:gd name="adj" fmla="val 3436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28717" y="2106216"/>
            <a:ext cx="2663163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🎯</a:t>
            </a:r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 Targeted Marketing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5428717" y="2521248"/>
            <a:ext cx="2663163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Identify high-value customer segments to focus acquisition and retention spend where it matters most.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8476244" y="1910854"/>
            <a:ext cx="3053976" cy="2310705"/>
          </a:xfrm>
          <a:prstGeom prst="roundRect">
            <a:avLst>
              <a:gd name="adj" fmla="val 3436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71601" y="2106216"/>
            <a:ext cx="2663262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📦</a:t>
            </a:r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 Optimized Product Mix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671601" y="2816523"/>
            <a:ext cx="2663262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Refine pricing strategies and product assortment based on what customers actually want to buy.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233360" y="4410571"/>
            <a:ext cx="6296860" cy="1410593"/>
          </a:xfrm>
          <a:prstGeom prst="roundRect">
            <a:avLst>
              <a:gd name="adj" fmla="val 5628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28717" y="4605933"/>
            <a:ext cx="5906146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❤️</a:t>
            </a:r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 Stronger Retention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5428717" y="5020965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Drive loyalty through personalized engagement powered by behavioral data, not guesswork.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7022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Key Success Metrics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1275723" y="1821855"/>
            <a:ext cx="515597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Segment Clarity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1275723" y="2306141"/>
            <a:ext cx="515597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Well-defined customer personas with distinct, actionable behavioral traits that marketing can act on immediately.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1275723" y="3353891"/>
            <a:ext cx="515597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Driver Identification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1275723" y="3838178"/>
            <a:ext cx="515597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top 3–5 factors that most influence purchasing decisions, ranked by business impact.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275723" y="4885928"/>
            <a:ext cx="515597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Actionability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1275723" y="5370215"/>
            <a:ext cx="515597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Every recommendation is tied directly to a measurable revenue or retention outcome — no abstract findings.</a:t>
            </a:r>
            <a:endParaRPr lang="en-US" sz="14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9202" y="2552105"/>
            <a:ext cx="4637269" cy="262780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3295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Next Steps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01627"/>
            <a:ext cx="3622882" cy="7560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482" y="2846685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Confirm Access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50482" y="3255367"/>
            <a:ext cx="324486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Finalize data access permissions and agree on project timeline with all stakeholders.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4357" y="1901627"/>
            <a:ext cx="3622882" cy="7560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73364" y="2846685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Kick Off Prep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473364" y="3255367"/>
            <a:ext cx="324486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Begin the data preparation phase — cleaning, transforming, and modeling raw datasets for analysis.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7239" y="1901627"/>
            <a:ext cx="3622882" cy="7560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96246" y="2846685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Weekly Reviews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96246" y="3255367"/>
            <a:ext cx="3244868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Schedule recurring stakeholder check-ins to share insights and align on evolving priorities throughout the project.</a:t>
            </a:r>
            <a:endParaRPr lang="en-US" sz="1450" dirty="0"/>
          </a:p>
        </p:txBody>
      </p:sp>
      <p:sp>
        <p:nvSpPr>
          <p:cNvPr id="12" name="Shape 7"/>
          <p:cNvSpPr/>
          <p:nvPr/>
        </p:nvSpPr>
        <p:spPr>
          <a:xfrm>
            <a:off x="661475" y="4866680"/>
            <a:ext cx="10868745" cy="1058366"/>
          </a:xfrm>
          <a:prstGeom prst="roundRect">
            <a:avLst>
              <a:gd name="adj" fmla="val 7501"/>
            </a:avLst>
          </a:prstGeom>
          <a:solidFill>
            <a:srgbClr val="EBE2E0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482" y="5134372"/>
            <a:ext cx="236234" cy="18901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75723" y="5102920"/>
            <a:ext cx="1006549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input shapes the output. Early alignment on data access and cadence is the single biggest driver of project success.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2026-08-22T13:49:31Z</dcterms:created>
  <dcterms:modified xsi:type="dcterms:W3CDTF">2026-08-22T13:49:31Z</dcterms:modified>
</cp:coreProperties>
</file>